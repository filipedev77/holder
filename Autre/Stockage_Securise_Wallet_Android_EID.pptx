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Stockage </a:t>
            </a:r>
            <a:r>
              <a:rPr dirty="0" err="1"/>
              <a:t>Sécurisé</a:t>
            </a:r>
            <a:r>
              <a:rPr dirty="0"/>
              <a:t> &amp; Wallet Android - </a:t>
            </a:r>
            <a:r>
              <a:rPr dirty="0" err="1"/>
              <a:t>Projet</a:t>
            </a:r>
            <a:r>
              <a:rPr dirty="0"/>
              <a:t> E-ID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Filipe Lea</a:t>
            </a:r>
            <a:r>
              <a:rPr lang="fr-CH" dirty="0"/>
              <a:t>o</a:t>
            </a:r>
            <a:r>
              <a:rPr dirty="0"/>
              <a:t> Vieira Moreira - 2025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: Contexte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Le </a:t>
            </a:r>
            <a:r>
              <a:rPr dirty="0" err="1"/>
              <a:t>projet</a:t>
            </a:r>
            <a:r>
              <a:rPr dirty="0"/>
              <a:t> E-ID vise à </a:t>
            </a:r>
            <a:r>
              <a:rPr dirty="0" err="1"/>
              <a:t>créer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identité</a:t>
            </a:r>
            <a:r>
              <a:rPr dirty="0"/>
              <a:t> </a:t>
            </a:r>
            <a:r>
              <a:rPr dirty="0" err="1"/>
              <a:t>électronique</a:t>
            </a:r>
            <a:r>
              <a:rPr dirty="0"/>
              <a:t> </a:t>
            </a:r>
            <a:r>
              <a:rPr dirty="0" err="1"/>
              <a:t>sécurisée</a:t>
            </a:r>
            <a:r>
              <a:rPr dirty="0"/>
              <a:t> </a:t>
            </a:r>
            <a:r>
              <a:rPr dirty="0" err="1"/>
              <a:t>reposant</a:t>
            </a:r>
            <a:r>
              <a:rPr dirty="0"/>
              <a:t> sur </a:t>
            </a:r>
            <a:r>
              <a:rPr dirty="0" err="1"/>
              <a:t>une</a:t>
            </a:r>
            <a:r>
              <a:rPr dirty="0"/>
              <a:t> architecture Issuer–Holder–Verifier.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 Wallet Android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Application mobile </a:t>
            </a:r>
            <a:r>
              <a:rPr dirty="0" err="1"/>
              <a:t>où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stockées</a:t>
            </a:r>
            <a:r>
              <a:rPr dirty="0"/>
              <a:t> les </a:t>
            </a:r>
            <a:r>
              <a:rPr dirty="0" err="1"/>
              <a:t>identités</a:t>
            </a:r>
            <a:r>
              <a:rPr dirty="0"/>
              <a:t> </a:t>
            </a:r>
            <a:r>
              <a:rPr dirty="0" err="1"/>
              <a:t>numériques</a:t>
            </a:r>
            <a:r>
              <a:rPr dirty="0"/>
              <a:t> (credentials).</a:t>
            </a:r>
          </a:p>
          <a:p>
            <a:r>
              <a:rPr dirty="0" err="1"/>
              <a:t>Permet</a:t>
            </a:r>
            <a:r>
              <a:rPr dirty="0"/>
              <a:t> de </a:t>
            </a:r>
            <a:r>
              <a:rPr dirty="0" err="1"/>
              <a:t>gérer</a:t>
            </a:r>
            <a:r>
              <a:rPr dirty="0"/>
              <a:t>, </a:t>
            </a:r>
            <a:r>
              <a:rPr dirty="0" err="1"/>
              <a:t>présenter</a:t>
            </a:r>
            <a:r>
              <a:rPr dirty="0"/>
              <a:t> et </a:t>
            </a:r>
            <a:r>
              <a:rPr dirty="0" err="1"/>
              <a:t>prouver</a:t>
            </a:r>
            <a:r>
              <a:rPr dirty="0"/>
              <a:t> </a:t>
            </a:r>
            <a:r>
              <a:rPr dirty="0" err="1"/>
              <a:t>certaines</a:t>
            </a:r>
            <a:r>
              <a:rPr dirty="0"/>
              <a:t> </a:t>
            </a:r>
            <a:r>
              <a:rPr dirty="0" err="1"/>
              <a:t>informations</a:t>
            </a:r>
            <a:r>
              <a:rPr dirty="0"/>
              <a:t> (ex: nom, </a:t>
            </a:r>
            <a:r>
              <a:rPr dirty="0" err="1"/>
              <a:t>âge</a:t>
            </a:r>
            <a:r>
              <a:rPr dirty="0"/>
              <a:t>, </a:t>
            </a:r>
            <a:r>
              <a:rPr dirty="0" err="1"/>
              <a:t>adresse</a:t>
            </a:r>
            <a:r>
              <a:rPr dirty="0"/>
              <a:t>).</a:t>
            </a:r>
          </a:p>
          <a:p>
            <a:r>
              <a:rPr dirty="0" err="1"/>
              <a:t>Fonctionne</a:t>
            </a:r>
            <a:r>
              <a:rPr dirty="0"/>
              <a:t> sur le </a:t>
            </a:r>
            <a:r>
              <a:rPr dirty="0" err="1"/>
              <a:t>modèle</a:t>
            </a:r>
            <a:r>
              <a:rPr dirty="0"/>
              <a:t> Holder – </a:t>
            </a:r>
            <a:r>
              <a:rPr dirty="0" err="1"/>
              <a:t>l’utilisateur</a:t>
            </a:r>
            <a:r>
              <a:rPr dirty="0"/>
              <a:t> </a:t>
            </a:r>
            <a:r>
              <a:rPr dirty="0" err="1"/>
              <a:t>contrôle</a:t>
            </a:r>
            <a:r>
              <a:rPr dirty="0"/>
              <a:t> </a:t>
            </a:r>
            <a:r>
              <a:rPr dirty="0" err="1"/>
              <a:t>ses</a:t>
            </a:r>
            <a:r>
              <a:rPr dirty="0"/>
              <a:t> données.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Comparable à un </a:t>
            </a:r>
            <a:r>
              <a:rPr dirty="0" err="1"/>
              <a:t>portefeuille</a:t>
            </a:r>
            <a:r>
              <a:rPr dirty="0"/>
              <a:t> numérique pour les </a:t>
            </a:r>
            <a:r>
              <a:rPr dirty="0" err="1"/>
              <a:t>cartes</a:t>
            </a:r>
            <a:r>
              <a:rPr dirty="0"/>
              <a:t> </a:t>
            </a:r>
            <a:r>
              <a:rPr dirty="0" err="1"/>
              <a:t>d'identité</a:t>
            </a:r>
            <a:r>
              <a:rPr dirty="0"/>
              <a:t>, </a:t>
            </a:r>
            <a:r>
              <a:rPr dirty="0" err="1"/>
              <a:t>permis</a:t>
            </a:r>
            <a:r>
              <a:rPr dirty="0"/>
              <a:t>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Le Stockage Sécurisé (Secure Storage)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Le stockage </a:t>
            </a:r>
            <a:r>
              <a:rPr dirty="0" err="1"/>
              <a:t>sécurisé</a:t>
            </a:r>
            <a:r>
              <a:rPr dirty="0"/>
              <a:t> </a:t>
            </a:r>
            <a:r>
              <a:rPr dirty="0" err="1"/>
              <a:t>protège</a:t>
            </a:r>
            <a:r>
              <a:rPr dirty="0"/>
              <a:t> les credentials du wallet sur </a:t>
            </a:r>
            <a:r>
              <a:rPr dirty="0" err="1"/>
              <a:t>l’appareil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Sur Android, </a:t>
            </a:r>
            <a:r>
              <a:rPr dirty="0" err="1"/>
              <a:t>cela</a:t>
            </a:r>
            <a:r>
              <a:rPr dirty="0"/>
              <a:t> </a:t>
            </a:r>
            <a:r>
              <a:rPr dirty="0" err="1"/>
              <a:t>s’appuie</a:t>
            </a:r>
            <a:r>
              <a:rPr dirty="0"/>
              <a:t> sur :</a:t>
            </a:r>
          </a:p>
          <a:p>
            <a:r>
              <a:rPr dirty="0"/>
              <a:t>-Android Keystore</a:t>
            </a:r>
            <a:r>
              <a:rPr lang="fr-CH" dirty="0"/>
              <a:t> </a:t>
            </a:r>
            <a:r>
              <a:rPr dirty="0"/>
              <a:t>: stockage des </a:t>
            </a:r>
            <a:r>
              <a:rPr dirty="0" err="1"/>
              <a:t>clés</a:t>
            </a:r>
            <a:r>
              <a:rPr dirty="0"/>
              <a:t> de </a:t>
            </a:r>
            <a:r>
              <a:rPr dirty="0" err="1"/>
              <a:t>chiffrement</a:t>
            </a:r>
            <a:r>
              <a:rPr dirty="0"/>
              <a:t> dans un </a:t>
            </a:r>
            <a:r>
              <a:rPr dirty="0" err="1"/>
              <a:t>espace</a:t>
            </a:r>
            <a:r>
              <a:rPr dirty="0"/>
              <a:t> matériel </a:t>
            </a:r>
            <a:r>
              <a:rPr dirty="0" err="1"/>
              <a:t>isolé</a:t>
            </a:r>
            <a:r>
              <a:rPr dirty="0"/>
              <a:t> (TPM/TEE).</a:t>
            </a:r>
          </a:p>
          <a:p>
            <a:r>
              <a:rPr dirty="0" err="1"/>
              <a:t>Chiffrement</a:t>
            </a:r>
            <a:r>
              <a:rPr dirty="0"/>
              <a:t> AES/GCM : pour </a:t>
            </a:r>
            <a:r>
              <a:rPr dirty="0" err="1"/>
              <a:t>protéger</a:t>
            </a:r>
            <a:r>
              <a:rPr dirty="0"/>
              <a:t> les </a:t>
            </a:r>
            <a:r>
              <a:rPr dirty="0" err="1"/>
              <a:t>fichiers</a:t>
            </a:r>
            <a:r>
              <a:rPr dirty="0"/>
              <a:t> JSON des credentials.</a:t>
            </a:r>
          </a:p>
          <a:p>
            <a:r>
              <a:rPr dirty="0" err="1"/>
              <a:t>Biométrie</a:t>
            </a:r>
            <a:r>
              <a:rPr dirty="0"/>
              <a:t> (Fingerprint/Face ID) : </a:t>
            </a:r>
            <a:r>
              <a:rPr dirty="0" err="1"/>
              <a:t>déverrouille</a:t>
            </a:r>
            <a:r>
              <a:rPr dirty="0"/>
              <a:t> les </a:t>
            </a:r>
            <a:r>
              <a:rPr dirty="0" err="1"/>
              <a:t>clés</a:t>
            </a:r>
            <a:r>
              <a:rPr dirty="0"/>
              <a:t> du Keystore.</a:t>
            </a:r>
          </a:p>
          <a:p>
            <a:endParaRPr dirty="0"/>
          </a:p>
          <a:p>
            <a:pPr marL="0" indent="0">
              <a:buNone/>
            </a:pPr>
            <a:r>
              <a:rPr dirty="0" err="1"/>
              <a:t>Ainsi</a:t>
            </a:r>
            <a:r>
              <a:rPr dirty="0"/>
              <a:t>,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le </a:t>
            </a:r>
            <a:r>
              <a:rPr dirty="0" err="1"/>
              <a:t>téléphone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compromis</a:t>
            </a:r>
            <a:r>
              <a:rPr dirty="0"/>
              <a:t>, les </a:t>
            </a:r>
            <a:r>
              <a:rPr dirty="0" err="1"/>
              <a:t>identités</a:t>
            </a:r>
            <a:r>
              <a:rPr dirty="0"/>
              <a:t> </a:t>
            </a:r>
            <a:r>
              <a:rPr dirty="0" err="1"/>
              <a:t>restent</a:t>
            </a:r>
            <a:r>
              <a:rPr dirty="0"/>
              <a:t> </a:t>
            </a:r>
            <a:r>
              <a:rPr dirty="0" err="1"/>
              <a:t>inaccessibles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E4A3A6B-74B9-92A9-D6F7-091AD6BC7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46" y="386930"/>
            <a:ext cx="7549592" cy="1298448"/>
          </a:xfrm>
        </p:spPr>
        <p:txBody>
          <a:bodyPr anchor="b">
            <a:normAutofit/>
          </a:bodyPr>
          <a:lstStyle/>
          <a:p>
            <a:r>
              <a:rPr lang="fr-CH" sz="4200" dirty="0"/>
              <a:t>En général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F77D4B-EB62-2D4B-CF13-AD9EFFE96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245" y="2599509"/>
            <a:ext cx="3398174" cy="3639450"/>
          </a:xfrm>
        </p:spPr>
        <p:txBody>
          <a:bodyPr anchor="ctr">
            <a:normAutofit/>
          </a:bodyPr>
          <a:lstStyle/>
          <a:p>
            <a:r>
              <a:rPr lang="fr-FR" sz="1700"/>
              <a:t>Dans ce cadre, le Wallet Android sert à stocker et gérer les credentials numériques, tandis que le stockage sécurisé protège ces informations sensibles contre tout accès non autorisé.</a:t>
            </a:r>
          </a:p>
          <a:p>
            <a:endParaRPr lang="fr-CH" sz="1700"/>
          </a:p>
        </p:txBody>
      </p:sp>
      <p:pic>
        <p:nvPicPr>
          <p:cNvPr id="4" name="Picture 2" descr="A_flowchart-style_digital_illustration_in_French_e.png">
            <a:extLst>
              <a:ext uri="{FF2B5EF4-FFF2-40B4-BE49-F238E27FC236}">
                <a16:creationId xmlns:a16="http://schemas.microsoft.com/office/drawing/2014/main" id="{A5F6C71A-45E5-BECA-FCE4-0080A441D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649" y="3052199"/>
            <a:ext cx="3862707" cy="257835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11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Interaction Wallet ↔ Stockage Sécurisé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CH" dirty="0"/>
              <a:t>1) </a:t>
            </a:r>
            <a:r>
              <a:rPr dirty="0" err="1"/>
              <a:t>L’Issuer</a:t>
            </a:r>
            <a:r>
              <a:rPr dirty="0"/>
              <a:t> (Confédération) </a:t>
            </a:r>
            <a:r>
              <a:rPr dirty="0" err="1"/>
              <a:t>envoie</a:t>
            </a:r>
            <a:r>
              <a:rPr dirty="0"/>
              <a:t> un credential </a:t>
            </a:r>
            <a:r>
              <a:rPr dirty="0" err="1"/>
              <a:t>signé</a:t>
            </a:r>
            <a:r>
              <a:rPr dirty="0"/>
              <a:t> au Wallet.</a:t>
            </a:r>
          </a:p>
          <a:p>
            <a:pPr marL="0" indent="0">
              <a:buNone/>
            </a:pPr>
            <a:r>
              <a:rPr lang="fr-CH" dirty="0"/>
              <a:t>2)</a:t>
            </a:r>
            <a:r>
              <a:rPr dirty="0"/>
              <a:t>Le Wallet chiffre le credential avec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clé</a:t>
            </a:r>
            <a:r>
              <a:rPr dirty="0"/>
              <a:t> </a:t>
            </a:r>
            <a:r>
              <a:rPr dirty="0" err="1"/>
              <a:t>stockée</a:t>
            </a:r>
            <a:r>
              <a:rPr dirty="0"/>
              <a:t> dans le Keystore.</a:t>
            </a:r>
          </a:p>
          <a:p>
            <a:pPr marL="0" indent="0">
              <a:buNone/>
            </a:pPr>
            <a:r>
              <a:rPr lang="fr-CH" dirty="0"/>
              <a:t>3)</a:t>
            </a:r>
            <a:r>
              <a:rPr dirty="0"/>
              <a:t>Le credential </a:t>
            </a:r>
            <a:r>
              <a:rPr dirty="0" err="1"/>
              <a:t>chiffré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sauvegardé</a:t>
            </a:r>
            <a:r>
              <a:rPr dirty="0"/>
              <a:t> </a:t>
            </a:r>
            <a:r>
              <a:rPr dirty="0" err="1"/>
              <a:t>localement</a:t>
            </a:r>
            <a:r>
              <a:rPr dirty="0"/>
              <a:t> (</a:t>
            </a:r>
            <a:r>
              <a:rPr dirty="0" err="1"/>
              <a:t>fichier</a:t>
            </a:r>
            <a:r>
              <a:rPr dirty="0"/>
              <a:t> JSON).</a:t>
            </a:r>
          </a:p>
          <a:p>
            <a:pPr marL="0" indent="0">
              <a:buNone/>
            </a:pPr>
            <a:r>
              <a:rPr lang="fr-CH" dirty="0"/>
              <a:t>4)</a:t>
            </a:r>
            <a:r>
              <a:rPr dirty="0" err="1"/>
              <a:t>Lorsqu’un</a:t>
            </a:r>
            <a:r>
              <a:rPr dirty="0"/>
              <a:t> </a:t>
            </a:r>
            <a:r>
              <a:rPr dirty="0" err="1"/>
              <a:t>vérifieur</a:t>
            </a:r>
            <a:r>
              <a:rPr dirty="0"/>
              <a:t> </a:t>
            </a:r>
            <a:r>
              <a:rPr dirty="0" err="1"/>
              <a:t>demande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preuve</a:t>
            </a:r>
            <a:r>
              <a:rPr dirty="0"/>
              <a:t>, le Wallet </a:t>
            </a:r>
            <a:r>
              <a:rPr dirty="0" err="1"/>
              <a:t>déchiffre</a:t>
            </a:r>
            <a:r>
              <a:rPr dirty="0"/>
              <a:t> </a:t>
            </a:r>
            <a:r>
              <a:rPr dirty="0" err="1"/>
              <a:t>uniquement</a:t>
            </a:r>
            <a:r>
              <a:rPr dirty="0"/>
              <a:t> les </a:t>
            </a:r>
            <a:r>
              <a:rPr dirty="0" err="1"/>
              <a:t>attributs</a:t>
            </a:r>
            <a:r>
              <a:rPr dirty="0"/>
              <a:t> </a:t>
            </a:r>
            <a:r>
              <a:rPr dirty="0" err="1"/>
              <a:t>nécessaires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lang="fr-CH" dirty="0"/>
              <a:t>5)</a:t>
            </a:r>
            <a:r>
              <a:rPr dirty="0"/>
              <a:t>Cela </a:t>
            </a:r>
            <a:r>
              <a:rPr dirty="0" err="1"/>
              <a:t>garantit</a:t>
            </a:r>
            <a:r>
              <a:rPr dirty="0"/>
              <a:t> la </a:t>
            </a:r>
            <a:r>
              <a:rPr dirty="0" err="1"/>
              <a:t>confidentialité</a:t>
            </a:r>
            <a:r>
              <a:rPr dirty="0"/>
              <a:t> (Selective Disclosure) et la </a:t>
            </a:r>
            <a:r>
              <a:rPr dirty="0" err="1"/>
              <a:t>sécurité</a:t>
            </a:r>
            <a:r>
              <a:rPr dirty="0"/>
              <a:t> du stockage.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Début de Proof of Concept (POC)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Objectif : </a:t>
            </a:r>
            <a:r>
              <a:rPr dirty="0" err="1"/>
              <a:t>Implémenter</a:t>
            </a:r>
            <a:r>
              <a:rPr dirty="0"/>
              <a:t> un prototype de stockage </a:t>
            </a:r>
            <a:r>
              <a:rPr dirty="0" err="1"/>
              <a:t>sécurisé</a:t>
            </a:r>
            <a:r>
              <a:rPr dirty="0"/>
              <a:t> sur Android.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Étapes du POC :</a:t>
            </a:r>
          </a:p>
          <a:p>
            <a:pPr marL="0" indent="0">
              <a:buNone/>
            </a:pPr>
            <a:r>
              <a:rPr dirty="0"/>
              <a:t>1. </a:t>
            </a:r>
            <a:r>
              <a:rPr dirty="0" err="1"/>
              <a:t>Créer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application Android </a:t>
            </a:r>
            <a:r>
              <a:rPr dirty="0" err="1"/>
              <a:t>en</a:t>
            </a:r>
            <a:r>
              <a:rPr dirty="0"/>
              <a:t> Kotlin.</a:t>
            </a:r>
          </a:p>
          <a:p>
            <a:pPr marL="0" indent="0">
              <a:buNone/>
            </a:pPr>
            <a:r>
              <a:rPr dirty="0"/>
              <a:t>2. </a:t>
            </a:r>
            <a:r>
              <a:rPr dirty="0" err="1"/>
              <a:t>Générer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clé</a:t>
            </a:r>
            <a:r>
              <a:rPr dirty="0"/>
              <a:t> AES avec `Android Keystore`.</a:t>
            </a:r>
          </a:p>
          <a:p>
            <a:pPr marL="0" indent="0">
              <a:buNone/>
            </a:pPr>
            <a:r>
              <a:rPr dirty="0"/>
              <a:t>3. </a:t>
            </a:r>
            <a:r>
              <a:rPr dirty="0" err="1"/>
              <a:t>Chiffrer</a:t>
            </a:r>
            <a:r>
              <a:rPr dirty="0"/>
              <a:t> un </a:t>
            </a:r>
            <a:r>
              <a:rPr dirty="0" err="1"/>
              <a:t>fichier</a:t>
            </a:r>
            <a:r>
              <a:rPr dirty="0"/>
              <a:t> JSON </a:t>
            </a:r>
            <a:r>
              <a:rPr dirty="0" err="1"/>
              <a:t>contenant</a:t>
            </a:r>
            <a:r>
              <a:rPr dirty="0"/>
              <a:t> un credential (nom, </a:t>
            </a:r>
            <a:r>
              <a:rPr dirty="0" err="1"/>
              <a:t>dateNaissance</a:t>
            </a:r>
            <a:r>
              <a:rPr dirty="0"/>
              <a:t>, </a:t>
            </a:r>
            <a:r>
              <a:rPr dirty="0" err="1"/>
              <a:t>adresse</a:t>
            </a:r>
            <a:r>
              <a:rPr dirty="0"/>
              <a:t>).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dirty="0" err="1"/>
              <a:t>Déchiffrer</a:t>
            </a:r>
            <a:r>
              <a:rPr dirty="0"/>
              <a:t> et </a:t>
            </a:r>
            <a:r>
              <a:rPr dirty="0" err="1"/>
              <a:t>afficher</a:t>
            </a:r>
            <a:r>
              <a:rPr dirty="0"/>
              <a:t> le </a:t>
            </a:r>
            <a:r>
              <a:rPr dirty="0" err="1"/>
              <a:t>contenu</a:t>
            </a:r>
            <a:r>
              <a:rPr dirty="0"/>
              <a:t> dans </a:t>
            </a:r>
            <a:r>
              <a:rPr dirty="0" err="1"/>
              <a:t>l’interface</a:t>
            </a:r>
            <a:r>
              <a:rPr dirty="0"/>
              <a:t> Wallet.</a:t>
            </a:r>
          </a:p>
          <a:p>
            <a:pPr marL="0" indent="0">
              <a:buNone/>
            </a:pPr>
            <a:r>
              <a:rPr dirty="0"/>
              <a:t>5. (</a:t>
            </a:r>
            <a:r>
              <a:rPr dirty="0" err="1"/>
              <a:t>Optionnel</a:t>
            </a:r>
            <a:r>
              <a:rPr dirty="0"/>
              <a:t>) </a:t>
            </a:r>
            <a:r>
              <a:rPr dirty="0" err="1"/>
              <a:t>Activer</a:t>
            </a:r>
            <a:r>
              <a:rPr dirty="0"/>
              <a:t> </a:t>
            </a:r>
            <a:r>
              <a:rPr dirty="0" err="1"/>
              <a:t>l’accès</a:t>
            </a:r>
            <a:r>
              <a:rPr dirty="0"/>
              <a:t> </a:t>
            </a:r>
            <a:r>
              <a:rPr dirty="0" err="1"/>
              <a:t>biométrique</a:t>
            </a:r>
            <a:r>
              <a:rPr dirty="0"/>
              <a:t> pour </a:t>
            </a:r>
            <a:r>
              <a:rPr dirty="0" err="1"/>
              <a:t>déverrouiller</a:t>
            </a:r>
            <a:r>
              <a:rPr dirty="0"/>
              <a:t> le credential.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Avantages &amp; Limites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 err="1"/>
              <a:t>Avantages</a:t>
            </a:r>
            <a:r>
              <a:rPr dirty="0"/>
              <a:t> :</a:t>
            </a:r>
          </a:p>
          <a:p>
            <a:r>
              <a:rPr dirty="0" err="1"/>
              <a:t>Sécurité</a:t>
            </a:r>
            <a:r>
              <a:rPr dirty="0"/>
              <a:t> </a:t>
            </a:r>
            <a:r>
              <a:rPr dirty="0" err="1"/>
              <a:t>matérielle</a:t>
            </a:r>
            <a:r>
              <a:rPr dirty="0"/>
              <a:t> (Keystore </a:t>
            </a:r>
            <a:r>
              <a:rPr dirty="0" err="1"/>
              <a:t>isolé</a:t>
            </a:r>
            <a:r>
              <a:rPr dirty="0"/>
              <a:t>)</a:t>
            </a:r>
          </a:p>
          <a:p>
            <a:r>
              <a:rPr dirty="0" err="1"/>
              <a:t>Confidentialité</a:t>
            </a:r>
            <a:r>
              <a:rPr dirty="0"/>
              <a:t> </a:t>
            </a:r>
            <a:r>
              <a:rPr dirty="0" err="1"/>
              <a:t>garantie</a:t>
            </a:r>
            <a:endParaRPr dirty="0"/>
          </a:p>
          <a:p>
            <a:r>
              <a:rPr dirty="0" err="1"/>
              <a:t>Contrôle</a:t>
            </a:r>
            <a:r>
              <a:rPr dirty="0"/>
              <a:t> total de </a:t>
            </a:r>
            <a:r>
              <a:rPr dirty="0" err="1"/>
              <a:t>l’utilisateur</a:t>
            </a:r>
            <a:r>
              <a:rPr dirty="0"/>
              <a:t> sur </a:t>
            </a:r>
            <a:r>
              <a:rPr dirty="0" err="1"/>
              <a:t>ses</a:t>
            </a:r>
            <a:r>
              <a:rPr dirty="0"/>
              <a:t> données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 err="1"/>
              <a:t>Limites</a:t>
            </a:r>
            <a:r>
              <a:rPr dirty="0"/>
              <a:t> :</a:t>
            </a:r>
          </a:p>
          <a:p>
            <a:r>
              <a:rPr dirty="0" err="1"/>
              <a:t>Complexité</a:t>
            </a:r>
            <a:r>
              <a:rPr dirty="0"/>
              <a:t> </a:t>
            </a:r>
            <a:r>
              <a:rPr dirty="0" err="1"/>
              <a:t>d’intégration</a:t>
            </a:r>
            <a:r>
              <a:rPr dirty="0"/>
              <a:t> </a:t>
            </a:r>
            <a:r>
              <a:rPr dirty="0" err="1"/>
              <a:t>cryptographique</a:t>
            </a:r>
            <a:endParaRPr dirty="0"/>
          </a:p>
          <a:p>
            <a:r>
              <a:rPr dirty="0"/>
              <a:t>Perte de </a:t>
            </a:r>
            <a:r>
              <a:rPr dirty="0" err="1"/>
              <a:t>l’appareil</a:t>
            </a:r>
            <a:r>
              <a:rPr dirty="0"/>
              <a:t> = </a:t>
            </a:r>
            <a:r>
              <a:rPr dirty="0" err="1"/>
              <a:t>perte</a:t>
            </a:r>
            <a:r>
              <a:rPr dirty="0"/>
              <a:t> de </a:t>
            </a:r>
            <a:r>
              <a:rPr dirty="0" err="1"/>
              <a:t>clés</a:t>
            </a:r>
            <a:r>
              <a:rPr dirty="0"/>
              <a:t> sans </a:t>
            </a:r>
            <a:r>
              <a:rPr dirty="0" err="1"/>
              <a:t>sauvegarde</a:t>
            </a:r>
            <a:r>
              <a:rPr dirty="0"/>
              <a:t> (</a:t>
            </a:r>
            <a:r>
              <a:rPr dirty="0" err="1"/>
              <a:t>sauf</a:t>
            </a:r>
            <a:r>
              <a:rPr dirty="0"/>
              <a:t> MPC)</a:t>
            </a:r>
          </a:p>
          <a:p>
            <a:r>
              <a:rPr dirty="0" err="1"/>
              <a:t>Dépendance</a:t>
            </a:r>
            <a:r>
              <a:rPr dirty="0"/>
              <a:t> à </a:t>
            </a:r>
            <a:r>
              <a:rPr dirty="0" err="1"/>
              <a:t>l’écosystème</a:t>
            </a:r>
            <a:r>
              <a:rPr dirty="0"/>
              <a:t> Android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Le couple Wallet + Stockage </a:t>
            </a:r>
            <a:r>
              <a:rPr dirty="0" err="1"/>
              <a:t>Sécurisé</a:t>
            </a:r>
            <a:r>
              <a:rPr dirty="0"/>
              <a:t> </a:t>
            </a:r>
            <a:r>
              <a:rPr dirty="0" err="1"/>
              <a:t>constitue</a:t>
            </a:r>
            <a:r>
              <a:rPr dirty="0"/>
              <a:t> le </a:t>
            </a:r>
            <a:r>
              <a:rPr dirty="0" err="1"/>
              <a:t>cœur</a:t>
            </a:r>
            <a:r>
              <a:rPr dirty="0"/>
              <a:t> de la </a:t>
            </a:r>
            <a:r>
              <a:rPr dirty="0" err="1"/>
              <a:t>confiance</a:t>
            </a:r>
            <a:r>
              <a:rPr dirty="0"/>
              <a:t> du </a:t>
            </a:r>
            <a:r>
              <a:rPr dirty="0" err="1"/>
              <a:t>système</a:t>
            </a:r>
            <a:r>
              <a:rPr dirty="0"/>
              <a:t> E-ID.</a:t>
            </a:r>
          </a:p>
          <a:p>
            <a:endParaRPr dirty="0"/>
          </a:p>
          <a:p>
            <a:r>
              <a:rPr dirty="0"/>
              <a:t>Le Wallet </a:t>
            </a:r>
            <a:r>
              <a:rPr dirty="0" err="1"/>
              <a:t>gère</a:t>
            </a:r>
            <a:r>
              <a:rPr dirty="0"/>
              <a:t> les </a:t>
            </a:r>
            <a:r>
              <a:rPr dirty="0" err="1"/>
              <a:t>identités</a:t>
            </a:r>
            <a:r>
              <a:rPr dirty="0"/>
              <a:t>, </a:t>
            </a:r>
            <a:r>
              <a:rPr dirty="0" err="1"/>
              <a:t>tandis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le stockage </a:t>
            </a:r>
            <a:r>
              <a:rPr dirty="0" err="1"/>
              <a:t>sécurisé</a:t>
            </a:r>
            <a:r>
              <a:rPr dirty="0"/>
              <a:t> </a:t>
            </a:r>
            <a:r>
              <a:rPr dirty="0" err="1"/>
              <a:t>protège</a:t>
            </a:r>
            <a:r>
              <a:rPr dirty="0"/>
              <a:t> les </a:t>
            </a:r>
            <a:r>
              <a:rPr dirty="0" err="1"/>
              <a:t>clés</a:t>
            </a:r>
            <a:r>
              <a:rPr dirty="0"/>
              <a:t> et les credentials.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Une étape </a:t>
            </a:r>
            <a:r>
              <a:rPr dirty="0" err="1"/>
              <a:t>clé</a:t>
            </a:r>
            <a:r>
              <a:rPr dirty="0"/>
              <a:t> </a:t>
            </a:r>
            <a:r>
              <a:rPr dirty="0" err="1"/>
              <a:t>vers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identité</a:t>
            </a:r>
            <a:r>
              <a:rPr dirty="0"/>
              <a:t> </a:t>
            </a:r>
            <a:r>
              <a:rPr dirty="0" err="1"/>
              <a:t>électronique</a:t>
            </a:r>
            <a:r>
              <a:rPr dirty="0"/>
              <a:t> </a:t>
            </a:r>
            <a:r>
              <a:rPr dirty="0" err="1"/>
              <a:t>réellement</a:t>
            </a:r>
            <a:r>
              <a:rPr dirty="0"/>
              <a:t> </a:t>
            </a:r>
            <a:r>
              <a:rPr dirty="0" err="1"/>
              <a:t>souveraine</a:t>
            </a:r>
            <a:r>
              <a:rPr dirty="0"/>
              <a:t> et privacy-by-design.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</Words>
  <Application>Microsoft Office PowerPoint</Application>
  <PresentationFormat>Affichage à l'écran (4:3)</PresentationFormat>
  <Paragraphs>53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Stockage Sécurisé &amp; Wallet Android - Projet E-ID</vt:lpstr>
      <vt:lpstr>Introduction : Contexte du projet</vt:lpstr>
      <vt:lpstr>Le Wallet Android</vt:lpstr>
      <vt:lpstr>Le Stockage Sécurisé (Secure Storage)</vt:lpstr>
      <vt:lpstr>En général</vt:lpstr>
      <vt:lpstr>Interaction Wallet ↔ Stockage Sécurisé</vt:lpstr>
      <vt:lpstr>Début de Proof of Concept (POC)</vt:lpstr>
      <vt:lpstr>Avantages &amp; Limites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Filipe Vieira</dc:creator>
  <cp:keywords/>
  <dc:description>generated using python-pptx</dc:description>
  <cp:lastModifiedBy>Leao Vieira Moreira Filipe</cp:lastModifiedBy>
  <cp:revision>3</cp:revision>
  <dcterms:created xsi:type="dcterms:W3CDTF">2013-01-27T09:14:16Z</dcterms:created>
  <dcterms:modified xsi:type="dcterms:W3CDTF">2025-11-12T09:09:57Z</dcterms:modified>
  <cp:category/>
</cp:coreProperties>
</file>